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5" r:id="rId3"/>
    <p:sldId id="276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>
        <p:scale>
          <a:sx n="66" d="100"/>
          <a:sy n="66" d="100"/>
        </p:scale>
        <p:origin x="5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04626-05FF-4916-918F-AEB24276F3F8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3157D-3FB8-4E40-B487-5D9EC3FFDE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141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C342D-28DA-B255-B7CD-F568B02D6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384C79-729D-B78E-654D-5840113D4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6B52DC-3B9A-B204-EF6E-B20C8541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731FB7-47F9-212C-D7B7-1F650446F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9E37D9-3569-5CAD-97E5-23A08D4B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8747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E82B8C-E42C-2C56-1A4D-9B4DCE7F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273625-A973-BEFC-71DF-22D25B358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76810B-0F31-12CC-C201-3F068DF5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DA39A9-A9EB-A0C9-050A-AADACFD4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36846A-C8D3-3CAD-517F-7FD1E290F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88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6BEBBA-2B50-59D6-F2DE-BA0B31E8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F19316-9C82-6B0E-BC56-BEBAA80C1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DDCC34-8019-13FF-28D0-AF43D3DC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C21DFF-BEB4-D948-144C-692944E7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198CA7-073B-D077-5905-E7745BF4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80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377ED6-7BD5-7D43-2838-E87218B5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3B9B22-C1FC-A5AF-27BC-18DE152C5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466C54-8FAA-3C2E-BA9A-3C53D1E8B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2F46B6-9F22-C3A1-3F41-848146A6D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790D23-DD6B-7CDD-9685-52BADF17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81D10F-94DD-7A46-B368-30E0D941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0080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F5F61-4AD4-3C89-55BE-2F0E88F5F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90449B-C3BC-BBD5-E732-634A15ABC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8E41AB3-EA78-CD44-BF58-CD70E5818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122D93D-33F1-A74F-4436-FDB4AE22B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61E4DC-DFFB-43F5-81D2-71B8B0966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7AE9DF4-75CC-C24A-D5F2-030A4AE3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212C1FF-BC94-3B6E-620D-5454344C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4BC0A7D-CCC7-C563-C4EB-311C3C1D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020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E2AA29-987B-EF5A-8C7A-5CC6FBBA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04FE3F-9643-EF2C-B2A4-9FC91594A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BF78C7-AB04-EB9C-FCDD-1AE9D747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1B5039-C175-C54C-2601-EA2DBA98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823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8BF493-BAD6-893E-9A2C-797A05D1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4A5180-7A1F-38B8-DBC8-24DF5370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1CA19E-D4B9-9B0E-DCB7-FDF5C009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242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5D8B1C-61F7-1B76-89C4-8644DD22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383332-BE39-C69C-A2A5-4ACC0E959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BFA380-593D-6E1B-4743-BF4F9D7ED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E6A3CA-93D4-F5FF-0F45-606D88459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D02880-3940-2B64-E5AB-74A25E58C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8B68FF-38B8-0B3B-203F-D33FC7004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327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15F8B5-5B37-D68E-4CE7-0A5C7AFB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86B1D53-4536-DD11-5FA5-EDC094B83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10379A-D938-A92F-73C5-66655BBF4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80C624-95D6-D32A-247F-ACC76DCE6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E78FB4-6121-3E72-5D6C-08E1B9063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24AC29-EB99-E973-A112-253ADFD1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27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0306F4-6E95-BFF5-492A-21576294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30E0AE1-5463-B00A-48AD-CDFED8ED5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B1B93E-71E3-770D-1F61-56BEE2D9A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C8A0F9-F632-6003-DACC-77709F1DE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3760A0-2939-3F1E-967B-4DEBF3A7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04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F994DE1-CC78-6D30-90D6-62CE3053C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C35F8E4-9551-BACF-27B1-33CDC9B46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27695-5CC2-4FFE-2E44-4E2C1EA8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D39E97-A804-A74E-D4A6-C12F03B3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CA72B2-00F0-FB18-1C78-0721EB67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4315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ohne Hintergrund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49"/>
          <p:cNvSpPr/>
          <p:nvPr/>
        </p:nvSpPr>
        <p:spPr>
          <a:xfrm>
            <a:off x="321600" y="6358560"/>
            <a:ext cx="9093120" cy="19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1219170">
              <a:lnSpc>
                <a:spcPct val="100000"/>
              </a:lnSpc>
              <a:spcBef>
                <a:spcPts val="533"/>
              </a:spcBef>
              <a:tabLst>
                <a:tab pos="0" algn="l"/>
              </a:tabLst>
            </a:pPr>
            <a:r>
              <a:rPr lang="de-DE" sz="1067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Folie </a:t>
            </a:r>
            <a:fld id="{BD160B51-4AFD-48D3-82F7-5FA2E070AD90}" type="slidenum">
              <a:rPr lang="de-DE" sz="1067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pPr defTabSz="1219170">
                <a:lnSpc>
                  <a:spcPct val="100000"/>
                </a:lnSpc>
                <a:spcBef>
                  <a:spcPts val="533"/>
                </a:spcBef>
                <a:tabLst>
                  <a:tab pos="0" algn="l"/>
                </a:tabLst>
              </a:pPr>
              <a:t>‹Nr.›</a:t>
            </a:fld>
            <a:endParaRPr lang="de" sz="1067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" name="Bild 13" descr="FH-SWF_Logo-RGB.ai"/>
          <p:cNvPicPr/>
          <p:nvPr/>
        </p:nvPicPr>
        <p:blipFill>
          <a:blip r:embed="rId2"/>
          <a:stretch/>
        </p:blipFill>
        <p:spPr>
          <a:xfrm>
            <a:off x="10511040" y="6108000"/>
            <a:ext cx="1415520" cy="51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 hasCustomPrompt="1"/>
          </p:nvPr>
        </p:nvSpPr>
        <p:spPr>
          <a:xfrm>
            <a:off x="332160" y="237120"/>
            <a:ext cx="11518080" cy="448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defRPr lang="en-US" sz="3200" b="1" u="none" strike="noStrike">
                <a:solidFill>
                  <a:srgbClr val="005EAD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05EAD"/>
                </a:solidFill>
                <a:effectLst/>
                <a:uFillTx/>
                <a:latin typeface="Arial"/>
                <a:ea typeface="ＭＳ Ｐゴシック"/>
              </a:rPr>
              <a:t>Flugportale im Vergleich:</a:t>
            </a:r>
            <a:endParaRPr lang="en-US" sz="3200" b="1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 hasCustomPrompt="1"/>
          </p:nvPr>
        </p:nvSpPr>
        <p:spPr>
          <a:xfrm>
            <a:off x="332160" y="764160"/>
            <a:ext cx="11518560" cy="51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170">
              <a:lnSpc>
                <a:spcPct val="100000"/>
              </a:lnSpc>
              <a:spcAft>
                <a:spcPts val="721"/>
              </a:spcAft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  <a:lvl2pPr indent="0" algn="l" defTabSz="1219170">
              <a:lnSpc>
                <a:spcPct val="100000"/>
              </a:lnSpc>
              <a:spcAft>
                <a:spcPts val="721"/>
              </a:spcAft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2pPr>
          </a:lstStyle>
          <a:p>
            <a:pPr indent="0" algn="l" defTabSz="914400">
              <a:lnSpc>
                <a:spcPct val="100000"/>
              </a:lnSpc>
              <a:spcAft>
                <a:spcPts val="541"/>
              </a:spcAft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Subheadline (Arial 18 Pt, Bold)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Aft>
                <a:spcPts val="541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2" name="Gerade Verbindung 8"/>
          <p:cNvCxnSpPr/>
          <p:nvPr/>
        </p:nvCxnSpPr>
        <p:spPr>
          <a:xfrm>
            <a:off x="0" y="1246560"/>
            <a:ext cx="6100320" cy="480"/>
          </a:xfrm>
          <a:prstGeom prst="straightConnector1">
            <a:avLst/>
          </a:prstGeom>
          <a:ln w="38100" cap="rnd">
            <a:solidFill>
              <a:srgbClr val="BE006E"/>
            </a:solidFill>
            <a:round/>
          </a:ln>
        </p:spPr>
      </p:cxn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332160" y="1502880"/>
            <a:ext cx="11531040" cy="435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1219170">
              <a:lnSpc>
                <a:spcPct val="100000"/>
              </a:lnSpc>
              <a:spcAft>
                <a:spcPts val="560"/>
              </a:spcAft>
              <a:buNone/>
              <a:tabLst>
                <a:tab pos="0" algn="l"/>
              </a:tabLst>
              <a:defRPr lang="de-DE" sz="1867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 algn="l" defTabSz="914400">
              <a:lnSpc>
                <a:spcPct val="100000"/>
              </a:lnSpc>
              <a:spcAft>
                <a:spcPts val="420"/>
              </a:spcAft>
              <a:buNone/>
              <a:tabLst>
                <a:tab pos="0" algn="l"/>
              </a:tabLst>
            </a:pPr>
            <a:r>
              <a:rPr lang="de-DE" sz="1867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Mastertextformat bearbeiten</a:t>
            </a:r>
            <a:endParaRPr lang="en-US" sz="1867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811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F91AAC2-CB55-3F0E-3F70-D7CC6376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80D7B3-A0B2-52EE-1923-ADCBAB4FA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DCE74F-8ABC-BC61-8900-15FDC0876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EEFD6-03CA-47D4-939A-9391CF90BF85}" type="datetimeFigureOut">
              <a:rPr lang="de-DE" smtClean="0"/>
              <a:t>04.09.2026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E6B064-2849-7ED0-3B8A-641F4E7F8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581215-865F-EBF9-2525-CDFF8B2F9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1C000-9DC9-447B-8C35-7FCE46B72C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244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C8847F0-0792-2376-DE96-FCDC43EA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60" y="552805"/>
            <a:ext cx="11518080" cy="448320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tx1"/>
                </a:solidFill>
              </a:rPr>
              <a:t>Idealo 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6C96EB04-0AE9-B7CE-787C-2F0BB30E8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63" y="1347061"/>
            <a:ext cx="5956237" cy="297497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FCC4621-199F-7296-197B-5B154110A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875" y="5079091"/>
            <a:ext cx="971291" cy="122610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C81C77E-8A35-5192-D40B-EF29454B4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970" y="5025474"/>
            <a:ext cx="920328" cy="122610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18DDF59-4EAE-4970-B614-C43F745677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545" y="4872751"/>
            <a:ext cx="1651525" cy="127637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F9F619D-BDE1-16A5-FBD9-2FC7D75DEDC6}"/>
              </a:ext>
            </a:extLst>
          </p:cNvPr>
          <p:cNvSpPr txBox="1"/>
          <p:nvPr/>
        </p:nvSpPr>
        <p:spPr>
          <a:xfrm>
            <a:off x="5544766" y="521855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75D37E-2E41-E4C6-93C8-CA1ABBA61277}"/>
              </a:ext>
            </a:extLst>
          </p:cNvPr>
          <p:cNvSpPr txBox="1"/>
          <p:nvPr/>
        </p:nvSpPr>
        <p:spPr>
          <a:xfrm>
            <a:off x="7163531" y="521855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+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009CC77-9C89-CE81-7A33-4173CE8A8B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528" y="3174152"/>
            <a:ext cx="3302670" cy="2974973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69634BC-1346-0E78-F75A-485CDAE21100}"/>
              </a:ext>
            </a:extLst>
          </p:cNvPr>
          <p:cNvSpPr txBox="1"/>
          <p:nvPr/>
        </p:nvSpPr>
        <p:spPr>
          <a:xfrm>
            <a:off x="635154" y="1514580"/>
            <a:ext cx="43971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Hybrider Crawler: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Chromium-basiert mit </a:t>
            </a:r>
            <a:r>
              <a:rPr lang="de-DE" dirty="0" err="1"/>
              <a:t>Playwright</a:t>
            </a:r>
            <a:r>
              <a:rPr lang="de-DE" dirty="0"/>
              <a:t>, um</a:t>
            </a:r>
          </a:p>
          <a:p>
            <a:r>
              <a:rPr lang="de-DE" dirty="0"/>
              <a:t>     die </a:t>
            </a:r>
            <a:r>
              <a:rPr lang="de-DE" dirty="0" err="1"/>
              <a:t>search_id</a:t>
            </a:r>
            <a:r>
              <a:rPr lang="de-DE" dirty="0"/>
              <a:t> zu ermitteln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API-basiert, um dann mit dieser </a:t>
            </a:r>
            <a:r>
              <a:rPr lang="de-DE" dirty="0" err="1"/>
              <a:t>search_id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 die Flugdaten abzurufen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6602-9359-0F12-F77F-C0AACBF6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65AADAA-5755-CE73-B8E8-09F9243D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60" y="552805"/>
            <a:ext cx="11518080" cy="448320"/>
          </a:xfrm>
        </p:spPr>
        <p:txBody>
          <a:bodyPr>
            <a:normAutofit fontScale="90000"/>
          </a:bodyPr>
          <a:lstStyle/>
          <a:p>
            <a:r>
              <a:rPr lang="de-DE">
                <a:solidFill>
                  <a:schemeClr val="tx1"/>
                </a:solidFill>
              </a:rPr>
              <a:t>Idealo - </a:t>
            </a:r>
            <a:r>
              <a:rPr lang="de-DE" dirty="0" err="1">
                <a:solidFill>
                  <a:schemeClr val="tx1"/>
                </a:solidFill>
              </a:rPr>
              <a:t>Preprocessing</a:t>
            </a:r>
            <a:endParaRPr lang="de-DE" dirty="0">
              <a:solidFill>
                <a:schemeClr val="tx1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21C3B76-12EF-9B2D-97AE-F33C3EA1B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837" y="1466250"/>
            <a:ext cx="2674395" cy="255065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8354159-087D-6C2D-BE5C-A0622B6C7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6" y="1466250"/>
            <a:ext cx="2552554" cy="163848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DE61779-0058-1ADD-D1AE-C04558975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110" y="2691145"/>
            <a:ext cx="5793644" cy="376272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ED97686-BAD1-052B-CFED-68E42541F0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461" y="208362"/>
            <a:ext cx="6073293" cy="240203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79F9717-62CA-1F23-CB36-4DBFA31BC9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7" y="4425158"/>
            <a:ext cx="5886753" cy="161933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52459B45-9706-9CDE-F1B1-C8C651F9EEB2}"/>
              </a:ext>
            </a:extLst>
          </p:cNvPr>
          <p:cNvSpPr txBox="1"/>
          <p:nvPr/>
        </p:nvSpPr>
        <p:spPr>
          <a:xfrm>
            <a:off x="191246" y="4016904"/>
            <a:ext cx="3315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Stauts Datei: batch_1_200.txt</a:t>
            </a:r>
          </a:p>
        </p:txBody>
      </p:sp>
    </p:spTree>
    <p:extLst>
      <p:ext uri="{BB962C8B-B14F-4D97-AF65-F5344CB8AC3E}">
        <p14:creationId xmlns:p14="http://schemas.microsoft.com/office/powerpoint/2010/main" val="68355805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D3466-5309-C1A8-969D-797EB890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51CC21E-2FA0-EAA4-514E-13C6A5361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60" y="552805"/>
            <a:ext cx="11518080" cy="448320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tx1"/>
                </a:solidFill>
              </a:rPr>
              <a:t>Idealo - Stillstand und Status-Tracking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B67AF2-45B1-253E-5A84-BA7902A70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983" y="3527593"/>
            <a:ext cx="7163798" cy="291401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F98EF01-D68A-FF84-1F95-9D64F41109FC}"/>
              </a:ext>
            </a:extLst>
          </p:cNvPr>
          <p:cNvSpPr txBox="1"/>
          <p:nvPr/>
        </p:nvSpPr>
        <p:spPr>
          <a:xfrm>
            <a:off x="627398" y="1584004"/>
            <a:ext cx="4172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de-DE" dirty="0" err="1"/>
              <a:t>Playwright</a:t>
            </a:r>
            <a:r>
              <a:rPr lang="de-DE" dirty="0"/>
              <a:t>-Timeouts und nicht geschlossene Browserseiten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de-DE" dirty="0"/>
              <a:t>Rate-</a:t>
            </a:r>
            <a:r>
              <a:rPr lang="de-DE" dirty="0" err="1"/>
              <a:t>Limiting</a:t>
            </a:r>
            <a:endParaRPr lang="de-DE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de-DE" dirty="0"/>
              <a:t>Status-Tracking jeder</a:t>
            </a:r>
          </a:p>
          <a:p>
            <a:pPr lvl="0"/>
            <a:r>
              <a:rPr lang="de-DE" dirty="0"/>
              <a:t>      Flugverbindung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de-DE" dirty="0"/>
              <a:t>Automatische Erkennung dauerhafter Stillstand: 0 </a:t>
            </a:r>
            <a:r>
              <a:rPr lang="de-DE" dirty="0" err="1"/>
              <a:t>pages</a:t>
            </a:r>
            <a:r>
              <a:rPr lang="de-DE" dirty="0"/>
              <a:t>/min</a:t>
            </a:r>
          </a:p>
          <a:p>
            <a:pPr lvl="0"/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FDDD741-2300-2913-C82D-A0A1A98E0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096" y="1312500"/>
            <a:ext cx="5790727" cy="217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7137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B6080-0E30-41D5-0519-17BA272C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F199F2A-93D0-4D36-1CB0-C58291FA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60" y="552805"/>
            <a:ext cx="11518080" cy="448320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tx1"/>
                </a:solidFill>
              </a:rPr>
              <a:t>Idealo - automatisierte Lösung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BC77138-9CF7-6A81-97ED-B616820F3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768" y="456262"/>
            <a:ext cx="3966602" cy="42292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57FCCD3-F098-0B35-D160-89731631960E}"/>
              </a:ext>
            </a:extLst>
          </p:cNvPr>
          <p:cNvSpPr txBox="1"/>
          <p:nvPr/>
        </p:nvSpPr>
        <p:spPr>
          <a:xfrm>
            <a:off x="413106" y="1365387"/>
            <a:ext cx="49513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de-DE" dirty="0"/>
              <a:t>Batch-Runner entwickeln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de-DE" dirty="0"/>
              <a:t>Batch-size: 200 Routen * 7 Tage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de-DE" dirty="0"/>
              <a:t>Stillstand erkennen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de-DE" dirty="0" err="1"/>
              <a:t>Scrapy</a:t>
            </a:r>
            <a:r>
              <a:rPr lang="de-DE" dirty="0"/>
              <a:t>-Prozess beenden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de-DE" dirty="0"/>
              <a:t>Betroffener Batch wiederholen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C447FD9-C024-A7C9-3293-B6882FC76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33" y="4736204"/>
            <a:ext cx="8503091" cy="176276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6A03425-A42F-D4A1-90D1-A23D9486D9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578" y="1592528"/>
            <a:ext cx="4211517" cy="304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1023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1AEB-4777-1F01-06D5-083AF6BD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FE052B2-8BED-1FA1-F9BD-D0ACC961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60" y="552805"/>
            <a:ext cx="11518080" cy="448320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tx1"/>
                </a:solidFill>
              </a:rPr>
              <a:t>Idealo - Performance Optimierung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CDBFE3-440C-2A93-4313-8EB0552DD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297" y="4287487"/>
            <a:ext cx="9201357" cy="181067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E74BED7D-579F-52E9-3DB8-57C31DD0EC4A}"/>
              </a:ext>
            </a:extLst>
          </p:cNvPr>
          <p:cNvSpPr txBox="1"/>
          <p:nvPr/>
        </p:nvSpPr>
        <p:spPr>
          <a:xfrm>
            <a:off x="1077764" y="1400962"/>
            <a:ext cx="3814249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</a:t>
            </a:r>
            <a:r>
              <a:rPr lang="de-DE" sz="2000" dirty="0"/>
              <a:t>Hauptfaktoren</a:t>
            </a:r>
            <a:r>
              <a:rPr lang="de-DE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Browser-Sharing:</a:t>
            </a:r>
          </a:p>
          <a:p>
            <a:r>
              <a:rPr lang="de-DE" dirty="0"/>
              <a:t>      12 Browser-Tabs gleichzeitig öffnen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Parallelisierung von Anfragen:</a:t>
            </a:r>
          </a:p>
          <a:p>
            <a:r>
              <a:rPr lang="de-DE" dirty="0"/>
              <a:t>     12 Anfragen parallel verarbeiten</a:t>
            </a:r>
          </a:p>
          <a:p>
            <a:r>
              <a:rPr lang="de-DE" dirty="0"/>
              <a:t>      mit Drosselung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Blockieren  unnötiger Ressourcen: </a:t>
            </a:r>
          </a:p>
          <a:p>
            <a:r>
              <a:rPr lang="de-DE" dirty="0"/>
              <a:t>     z.B. Bilder, CSS-Dateien etc.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12467E9-221B-4A1A-3D79-6942FDFAD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984" y="1535931"/>
            <a:ext cx="5582670" cy="263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5245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F77E-D714-CBE6-349E-C879A18C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A2EED9C-41E4-F43D-CBDC-BAC0B8115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60" y="552805"/>
            <a:ext cx="11518080" cy="448320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tx1"/>
                </a:solidFill>
              </a:rPr>
              <a:t>Idealo - Ergebnisse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16EF9BE-CE1D-D010-4AC8-1C2BE989849B}"/>
              </a:ext>
            </a:extLst>
          </p:cNvPr>
          <p:cNvSpPr txBox="1"/>
          <p:nvPr/>
        </p:nvSpPr>
        <p:spPr>
          <a:xfrm flipH="1">
            <a:off x="1591310" y="1470144"/>
            <a:ext cx="436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Crawl 1: (ca. 70.000 Flugverbindungen)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8A6CC7D-A96C-7902-D102-BC036FEAB1E7}"/>
              </a:ext>
            </a:extLst>
          </p:cNvPr>
          <p:cNvSpPr txBox="1"/>
          <p:nvPr/>
        </p:nvSpPr>
        <p:spPr>
          <a:xfrm flipH="1">
            <a:off x="6058385" y="1470144"/>
            <a:ext cx="4835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Crawl 2: (ca. 4.000 Flugverbindungen)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1597D21-0B11-5A79-B36B-2DD8BE038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925" y="1839476"/>
            <a:ext cx="3684171" cy="274954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0B0E595-4E28-E6DB-34D9-9D7B7BDB3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385" y="1839476"/>
            <a:ext cx="3684171" cy="2712521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631F675-BDD9-7D98-D238-5FC8D0396DDC}"/>
              </a:ext>
            </a:extLst>
          </p:cNvPr>
          <p:cNvSpPr txBox="1"/>
          <p:nvPr/>
        </p:nvSpPr>
        <p:spPr>
          <a:xfrm>
            <a:off x="1148284" y="4921329"/>
            <a:ext cx="9622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Performance:</a:t>
            </a:r>
            <a:r>
              <a:rPr lang="de-DE" dirty="0"/>
              <a:t> Crawler erreicht von bis zu 100 Seiten pro Minute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Stabilität:</a:t>
            </a:r>
            <a:r>
              <a:rPr lang="de-DE" dirty="0"/>
              <a:t> Crawler läuft dauerhaft ohne Stillstand.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/>
              <a:t>Robustheit:</a:t>
            </a:r>
            <a:r>
              <a:rPr lang="de-DE" dirty="0"/>
              <a:t> Crawler kann Fehler abfangen und behandeln und danach automatisch weiterarbeiten</a:t>
            </a:r>
          </a:p>
        </p:txBody>
      </p:sp>
    </p:spTree>
    <p:extLst>
      <p:ext uri="{BB962C8B-B14F-4D97-AF65-F5344CB8AC3E}">
        <p14:creationId xmlns:p14="http://schemas.microsoft.com/office/powerpoint/2010/main" val="36686963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Breitbild</PresentationFormat>
  <Paragraphs>37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Wingdings</vt:lpstr>
      <vt:lpstr>Office</vt:lpstr>
      <vt:lpstr>Idealo </vt:lpstr>
      <vt:lpstr>Idealo - Preprocessing</vt:lpstr>
      <vt:lpstr>Idealo - Stillstand und Status-Tracking </vt:lpstr>
      <vt:lpstr>Idealo - automatisierte Lösung</vt:lpstr>
      <vt:lpstr>Idealo - Performance Optimierung</vt:lpstr>
      <vt:lpstr>Idealo - Ergebnisse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Elaf Hakim</dc:creator>
  <cp:lastModifiedBy>Elaf Hakim</cp:lastModifiedBy>
  <cp:revision>46</cp:revision>
  <dcterms:created xsi:type="dcterms:W3CDTF">2026-09-01T16:33:00Z</dcterms:created>
  <dcterms:modified xsi:type="dcterms:W3CDTF">2026-09-04T21:10:18Z</dcterms:modified>
</cp:coreProperties>
</file>